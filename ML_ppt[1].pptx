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23" r:id="rId5"/>
    <p:sldId id="324" r:id="rId6"/>
    <p:sldId id="281" r:id="rId7"/>
    <p:sldId id="282" r:id="rId8"/>
    <p:sldId id="325" r:id="rId9"/>
    <p:sldId id="315" r:id="rId10"/>
    <p:sldId id="319" r:id="rId11"/>
    <p:sldId id="322" r:id="rId12"/>
    <p:sldId id="327" r:id="rId13"/>
    <p:sldId id="326" r:id="rId14"/>
    <p:sldId id="328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616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F8A5CB41-029F-E4A7-0518-EF3C1E5638E4}"/>
              </a:ext>
            </a:extLst>
          </p:cNvPr>
          <p:cNvSpPr txBox="1">
            <a:spLocks/>
          </p:cNvSpPr>
          <p:nvPr/>
        </p:nvSpPr>
        <p:spPr>
          <a:xfrm>
            <a:off x="3066749" y="541534"/>
            <a:ext cx="5688965" cy="1099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65530" marR="5080" indent="-1053465">
              <a:lnSpc>
                <a:spcPts val="2100"/>
              </a:lnSpc>
              <a:spcBef>
                <a:spcPts val="220"/>
              </a:spcBef>
            </a:pP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Department</a:t>
            </a:r>
            <a:r>
              <a:rPr lang="en-US" sz="1800" b="1" spc="-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-1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Artificial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Intelligence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&amp; Machine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Learning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School</a:t>
            </a:r>
            <a:r>
              <a:rPr lang="en-US" sz="18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Engineering</a:t>
            </a:r>
            <a:r>
              <a:rPr lang="en-US" sz="18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&amp;</a:t>
            </a:r>
            <a:r>
              <a:rPr lang="en-US" sz="1800" b="1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Technology</a:t>
            </a:r>
            <a:endParaRPr lang="en-US" sz="1800" dirty="0">
              <a:latin typeface="Times New Roman"/>
              <a:cs typeface="Times New Roman"/>
            </a:endParaRPr>
          </a:p>
          <a:p>
            <a:pPr marL="945515" marR="938530" indent="897890">
              <a:lnSpc>
                <a:spcPts val="2100"/>
              </a:lnSpc>
            </a:pP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Sanjivani</a:t>
            </a:r>
            <a:r>
              <a:rPr lang="en-US" sz="1800" b="1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University </a:t>
            </a:r>
            <a:r>
              <a:rPr lang="en-US" sz="1800" b="1" spc="-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Semester-</a:t>
            </a:r>
            <a:r>
              <a:rPr lang="en-US" sz="1800" b="1" spc="-90" dirty="0" smtClean="0">
                <a:solidFill>
                  <a:srgbClr val="0D0D0D"/>
                </a:solidFill>
                <a:latin typeface="Times New Roman"/>
                <a:cs typeface="Times New Roman"/>
              </a:rPr>
              <a:t>V</a:t>
            </a:r>
            <a:r>
              <a:rPr lang="en-US" sz="1800" b="1" spc="-90" dirty="0">
                <a:solidFill>
                  <a:srgbClr val="0D0D0D"/>
                </a:solidFill>
                <a:latin typeface="Times New Roman"/>
                <a:cs typeface="Times New Roman"/>
              </a:rPr>
              <a:t>,</a:t>
            </a:r>
            <a:r>
              <a:rPr lang="en-US" sz="1800" b="1" spc="-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Academic</a:t>
            </a:r>
            <a:r>
              <a:rPr lang="en-US" sz="1800" b="1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Year</a:t>
            </a:r>
            <a:r>
              <a:rPr lang="en-US" sz="18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smtClean="0">
                <a:solidFill>
                  <a:srgbClr val="0D0D0D"/>
                </a:solidFill>
                <a:latin typeface="Times New Roman"/>
                <a:cs typeface="Times New Roman"/>
              </a:rPr>
              <a:t>2025-</a:t>
            </a:r>
            <a:r>
              <a:rPr lang="en-US" sz="1800" b="1" spc="-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2026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75AD6A51-BD9C-F242-6199-EDF717CCE5FE}"/>
              </a:ext>
            </a:extLst>
          </p:cNvPr>
          <p:cNvSpPr txBox="1"/>
          <p:nvPr/>
        </p:nvSpPr>
        <p:spPr>
          <a:xfrm>
            <a:off x="3572336" y="1764358"/>
            <a:ext cx="4470400" cy="2390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425"/>
              </a:spcBef>
            </a:pPr>
            <a:r>
              <a:rPr sz="2400" b="1" spc="-50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907415" marR="899794" algn="ctr">
              <a:lnSpc>
                <a:spcPct val="111300"/>
              </a:lnSpc>
            </a:pPr>
            <a:r>
              <a:rPr lang="en-IN" sz="2400" b="1" spc="-70" dirty="0" smtClean="0">
                <a:latin typeface="Times New Roman"/>
                <a:cs typeface="Times New Roman"/>
              </a:rPr>
              <a:t> </a:t>
            </a:r>
            <a:r>
              <a:rPr lang="en-IN" sz="2400" b="1" spc="-10" dirty="0" smtClean="0">
                <a:latin typeface="Times New Roman"/>
                <a:cs typeface="Times New Roman"/>
              </a:rPr>
              <a:t>PRESENTATION </a:t>
            </a:r>
            <a:r>
              <a:rPr lang="en-IN" sz="2400" b="1" spc="-25" dirty="0" smtClean="0">
                <a:latin typeface="Times New Roman"/>
                <a:cs typeface="Times New Roman"/>
              </a:rPr>
              <a:t>ON</a:t>
            </a:r>
            <a:endParaRPr lang="en-IN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25"/>
              </a:spcBef>
            </a:pPr>
            <a:r>
              <a:rPr sz="2400" b="1" dirty="0" smtClean="0">
                <a:latin typeface="Times New Roman"/>
                <a:cs typeface="Times New Roman"/>
              </a:rPr>
              <a:t>“</a:t>
            </a:r>
            <a:r>
              <a:rPr lang="en-US" sz="2400" b="1" dirty="0">
                <a:latin typeface="Times New Roman"/>
                <a:cs typeface="Times New Roman"/>
              </a:rPr>
              <a:t>Network Intrusion Detection System (NIDS) using Machine Learning</a:t>
            </a:r>
            <a:r>
              <a:rPr sz="2400" b="1" spc="-10" dirty="0" smtClean="0">
                <a:latin typeface="Times New Roman"/>
                <a:cs typeface="Times New Roman"/>
              </a:rPr>
              <a:t>”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7740D5DC-CFB0-B1EC-2C96-15CF535F3FAA}"/>
              </a:ext>
            </a:extLst>
          </p:cNvPr>
          <p:cNvSpPr txBox="1"/>
          <p:nvPr/>
        </p:nvSpPr>
        <p:spPr>
          <a:xfrm>
            <a:off x="1265620" y="4442390"/>
            <a:ext cx="3608038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r>
              <a:rPr sz="1800" spc="-25" dirty="0" smtClean="0">
                <a:latin typeface="Times New Roman"/>
                <a:cs typeface="Times New Roman"/>
              </a:rPr>
              <a:t>:</a:t>
            </a:r>
            <a:endParaRPr lang="en-US" sz="1800" spc="-25" dirty="0" smtClean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800" dirty="0" err="1" smtClean="0">
                <a:latin typeface="Times New Roman"/>
                <a:cs typeface="Times New Roman"/>
              </a:rPr>
              <a:t>Govind</a:t>
            </a:r>
            <a:r>
              <a:rPr lang="en-US" sz="1800" dirty="0" smtClean="0">
                <a:latin typeface="Times New Roman"/>
                <a:cs typeface="Times New Roman"/>
              </a:rPr>
              <a:t> more(2124UMLM2033)</a:t>
            </a:r>
          </a:p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dirty="0" err="1" smtClean="0">
                <a:latin typeface="Times New Roman"/>
                <a:cs typeface="Times New Roman"/>
              </a:rPr>
              <a:t>Digambar</a:t>
            </a:r>
            <a:r>
              <a:rPr lang="en-US" dirty="0" smtClean="0">
                <a:latin typeface="Times New Roman"/>
                <a:cs typeface="Times New Roman"/>
              </a:rPr>
              <a:t> Mahajan(2124UMLM2034)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IN" sz="1800" dirty="0" smtClean="0">
                <a:latin typeface="Times New Roman"/>
                <a:cs typeface="Times New Roman"/>
              </a:rPr>
              <a:t>Pratik Shelke</a:t>
            </a:r>
            <a:r>
              <a:rPr sz="1800" spc="-10" dirty="0" smtClean="0">
                <a:latin typeface="Times New Roman"/>
                <a:cs typeface="Times New Roman"/>
              </a:rPr>
              <a:t>[2124UMLM20</a:t>
            </a:r>
            <a:r>
              <a:rPr lang="en-IN" spc="-10" dirty="0" smtClean="0">
                <a:latin typeface="Times New Roman"/>
                <a:cs typeface="Times New Roman"/>
              </a:rPr>
              <a:t>36</a:t>
            </a:r>
            <a:r>
              <a:rPr sz="1800" spc="-10" dirty="0" smtClean="0">
                <a:latin typeface="Times New Roman"/>
                <a:cs typeface="Times New Roman"/>
              </a:rPr>
              <a:t>]</a:t>
            </a:r>
            <a:endParaRPr lang="en-US" sz="1800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US" spc="-10" smtClean="0">
                <a:latin typeface="Times New Roman"/>
                <a:cs typeface="Times New Roman"/>
              </a:rPr>
              <a:t>Shreyash</a:t>
            </a:r>
            <a:r>
              <a:rPr lang="en-US" spc="-10" dirty="0" smtClean="0">
                <a:latin typeface="Times New Roman"/>
                <a:cs typeface="Times New Roman"/>
              </a:rPr>
              <a:t> Hon(2124UMLM2052)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CA4CE484-E766-4DBE-DE26-8FE1C44442AC}"/>
              </a:ext>
            </a:extLst>
          </p:cNvPr>
          <p:cNvSpPr txBox="1"/>
          <p:nvPr/>
        </p:nvSpPr>
        <p:spPr>
          <a:xfrm>
            <a:off x="9345059" y="5160509"/>
            <a:ext cx="1872838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dirty="0" smtClean="0">
                <a:latin typeface="Times New Roman"/>
                <a:cs typeface="Times New Roman"/>
              </a:rPr>
              <a:t>Course I/C</a:t>
            </a:r>
            <a:r>
              <a:rPr sz="1800" spc="-50" dirty="0" smtClean="0"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IN" dirty="0" err="1" smtClean="0">
                <a:latin typeface="Times New Roman"/>
                <a:cs typeface="Times New Roman"/>
              </a:rPr>
              <a:t>Prof.Raj</a:t>
            </a:r>
            <a:r>
              <a:rPr lang="en-IN" dirty="0" smtClean="0">
                <a:latin typeface="Times New Roman"/>
                <a:cs typeface="Times New Roman"/>
              </a:rPr>
              <a:t> sir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6" name="object 7">
            <a:extLst>
              <a:ext uri="{FF2B5EF4-FFF2-40B4-BE49-F238E27FC236}">
                <a16:creationId xmlns:a16="http://schemas.microsoft.com/office/drawing/2014/main" id="{6A4A57E4-4D3D-011B-3A4C-2420C79688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45" y="415938"/>
            <a:ext cx="1858631" cy="14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7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4733-5E92-8219-4E4B-5D4683C8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87572"/>
            <a:ext cx="10511627" cy="471489"/>
          </a:xfrm>
        </p:spPr>
        <p:txBody>
          <a:bodyPr/>
          <a:lstStyle/>
          <a:p>
            <a:r>
              <a:rPr lang="en-IN" sz="28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C40F0-D8AE-416A-7D2E-8190063A9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530221"/>
            <a:ext cx="10511627" cy="4734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and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47A2E-E825-1D9A-6B45-A865E766F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9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8257880" cy="56625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09" y="1784007"/>
            <a:ext cx="10103995" cy="331589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cyber threats requires intelligent intrusion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fail to detect unknown attacks.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Build an ML-based NIDS to detect Normal or Attack traffic.</a:t>
            </a:r>
          </a:p>
          <a:p>
            <a:endParaRPr lang="en-US" dirty="0"/>
          </a:p>
        </p:txBody>
      </p:sp>
      <p:sp>
        <p:nvSpPr>
          <p:cNvPr id="11" name="AutoShape 10" descr="Global Civil Consultants: Types of High-Rise Buildings Structural Systems">
            <a:extLst>
              <a:ext uri="{FF2B5EF4-FFF2-40B4-BE49-F238E27FC236}">
                <a16:creationId xmlns:a16="http://schemas.microsoft.com/office/drawing/2014/main" id="{1EC7A38E-69FC-CD8F-860F-B2C13403E1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NSL-KDD dataset.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evaluate ML models for intrusion detection.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using Random Forest.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UI with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testing.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for real-time use</a:t>
            </a:r>
            <a:r>
              <a:rPr lang="en-US" dirty="0"/>
              <a:t>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B443-F50A-E5DD-5228-1245BF82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928688"/>
            <a:ext cx="9879437" cy="552975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B59A6-A810-50F6-4424-C4F97E4E9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1707502"/>
            <a:ext cx="9875462" cy="432872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NSL-KDD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Features: 41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Types: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Numeric: duration,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src_bytes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dst_bytes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Categorical: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protocol_type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service, flag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D240E-BE6D-4405-426A-1AF274088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1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592949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856792"/>
            <a:ext cx="7389845" cy="416657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Handle categorical features (Label Encoding)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Normalize numeric features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Split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train &amp; test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Algorithm: Random Forest Classifier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Confusion Matrix, Accuracy, Precision, Recall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8807873" cy="37042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 Random Forest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Achieved: 99.74%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Metrics: Precision, Recall, 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 used to visualize performance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09" y="861332"/>
            <a:ext cx="10511627" cy="594244"/>
          </a:xfrm>
        </p:spPr>
        <p:txBody>
          <a:bodyPr/>
          <a:lstStyle/>
          <a:p>
            <a:r>
              <a:rPr lang="en-US" dirty="0"/>
              <a:t>Results and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achieved the highest accuracy.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effectively classifies Normal vs Attack traffic.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Nearly perfect classification on test data (99.74%).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EEEE-C48C-D561-14A1-DB4E80A1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928688"/>
            <a:ext cx="10511627" cy="567830"/>
          </a:xfrm>
        </p:spPr>
        <p:txBody>
          <a:bodyPr/>
          <a:lstStyle/>
          <a:p>
            <a:r>
              <a:rPr lang="en-US" dirty="0"/>
              <a:t>User Interface (</a:t>
            </a:r>
            <a:r>
              <a:rPr lang="en-US" dirty="0" err="1"/>
              <a:t>Gradio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969E8-B5D0-76EB-62C4-6665FE315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interactive UI for manual testing.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enters network parameters such as: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Duration, Protocol Type, Service, Flag, Bytes, etc.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whether traffic is Normal or Attack</a:t>
            </a:r>
          </a:p>
        </p:txBody>
      </p:sp>
    </p:spTree>
    <p:extLst>
      <p:ext uri="{BB962C8B-B14F-4D97-AF65-F5344CB8AC3E}">
        <p14:creationId xmlns:p14="http://schemas.microsoft.com/office/powerpoint/2010/main" val="105224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65F-CAEF-49B2-A94B-A6973B98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5DFD-146F-44D8-86A9-F5708C5693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Live on Google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Accessible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public link for demonstration.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predictions for testing different scenarios.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53A88-5211-4C91-8798-10F181EE1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65F-CAEF-49B2-A94B-A6973B98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5DFD-146F-44D8-86A9-F5708C5693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high-accuracy ML model for NIDS.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Work: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for multi-class attack detection.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Integrate deep learning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53A88-5211-4C91-8798-10F181EE1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0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purl.org/dc/elements/1.1/"/>
    <ds:schemaRef ds:uri="230e9df3-be65-4c73-a93b-d1236ebd677e"/>
    <ds:schemaRef ds:uri="http://purl.org/dc/dcmitype/"/>
    <ds:schemaRef ds:uri="http://schemas.microsoft.com/office/2006/documentManagement/types"/>
    <ds:schemaRef ds:uri="http://schemas.microsoft.com/sharepoint/v3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{F74FF9BA-0073-40A2-A2CA-057D8095051E}tf78438558_win32</Template>
  <TotalTime>114</TotalTime>
  <Words>389</Words>
  <Application>Microsoft Office PowerPoint</Application>
  <PresentationFormat>Widescreen</PresentationFormat>
  <Paragraphs>82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Custom</vt:lpstr>
      <vt:lpstr>PowerPoint Presentation</vt:lpstr>
      <vt:lpstr>CONTENTS</vt:lpstr>
      <vt:lpstr>Problem Statement</vt:lpstr>
      <vt:lpstr>OBJECTIVES</vt:lpstr>
      <vt:lpstr>Dataset Description</vt:lpstr>
      <vt:lpstr>Methodology</vt:lpstr>
      <vt:lpstr>Model Training</vt:lpstr>
      <vt:lpstr>Results and Analysis</vt:lpstr>
      <vt:lpstr>User Interface (Gradio)</vt:lpstr>
      <vt:lpstr>Deployment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Marathwada Mitramandal’s Institute of Technology, Lohgaon, Pune-47 Department of Civil Engineering</dc:title>
  <dc:subject/>
  <dc:creator>Yash Bhalsing</dc:creator>
  <cp:lastModifiedBy>pratik shelke</cp:lastModifiedBy>
  <cp:revision>12</cp:revision>
  <dcterms:created xsi:type="dcterms:W3CDTF">2025-08-06T19:29:43Z</dcterms:created>
  <dcterms:modified xsi:type="dcterms:W3CDTF">2025-11-01T15:00:13Z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